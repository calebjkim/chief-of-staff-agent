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rtx_slide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rtx_slide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rtx_slide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rtx_slide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rtx_slide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rtx_slide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rtx_slide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rtx_slide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rtx_slide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rtx_slide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rtx_slide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rtx_slide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rtx_slide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rtx_slide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rtx_slide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rtx_slide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rtx_slide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rtx_slide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rtx_slide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rtx_slide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hyperlink" Target="SHEET_URL" TargetMode="External"/><Relationship Id="rId4" Type="http://schemas.openxmlformats.org/officeDocument/2006/relationships/hyperlink" Target="DOC_URL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72554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77240" y="1143000"/>
            <a:ext cx="7498200" cy="21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0">
                <a:solidFill>
                  <a:srgbClr val="FFFFFF"/>
                </a:solidFill>
              </a:rPr>
              <a:t>RTX Spark</a:t>
            </a:r>
            <a:endParaRPr b="1" sz="40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" sz="4000">
                <a:solidFill>
                  <a:srgbClr val="FFFFFF"/>
                </a:solidFill>
              </a:rPr>
              <a:t>Exec Review</a:t>
            </a:r>
            <a:endParaRPr b="1" sz="4000">
              <a:solidFill>
                <a:srgbClr val="FFFFFF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822960" y="3657600"/>
            <a:ext cx="68580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C7D2FE"/>
                </a:solidFill>
              </a:rPr>
              <a:t>Campaign plan • </a:t>
            </a:r>
            <a:endParaRPr sz="1800">
              <a:solidFill>
                <a:srgbClr val="C7D2FE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1800">
                <a:solidFill>
                  <a:srgbClr val="C7D2FE"/>
                </a:solidFill>
              </a:rPr>
              <a:t>Decision-ready working deck</a:t>
            </a:r>
            <a:endParaRPr sz="1800">
              <a:solidFill>
                <a:srgbClr val="C7D2FE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/>
        </p:nvSpPr>
        <p:spPr>
          <a:xfrm>
            <a:off x="640080" y="411480"/>
            <a:ext cx="7772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" sz="2800">
                <a:solidFill>
                  <a:srgbClr val="172554"/>
                </a:solidFill>
              </a:rPr>
              <a:t>Lead with the agent</a:t>
            </a:r>
            <a:endParaRPr b="1" sz="2800">
              <a:solidFill>
                <a:srgbClr val="172554"/>
              </a:solidFill>
            </a:endParaRPr>
          </a:p>
        </p:txBody>
      </p:sp>
      <p:sp>
        <p:nvSpPr>
          <p:cNvPr id="61" name="Google Shape;61;p14"/>
          <p:cNvSpPr txBox="1"/>
          <p:nvPr/>
        </p:nvSpPr>
        <p:spPr>
          <a:xfrm>
            <a:off x="731520" y="1325880"/>
            <a:ext cx="7543800" cy="42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THE PROMISE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Useful AI coworkers running locally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THE PROOF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Performance, privacy, and readiness support that promise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THE ASK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Approve the agent-first keynote storyline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731520" y="6446520"/>
            <a:ext cx="7543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800">
                <a:solidFill>
                  <a:srgbClr val="64748B"/>
                </a:solidFill>
              </a:rPr>
              <a:t>RTX Spark • Exec Review • 02</a:t>
            </a:r>
            <a:endParaRPr sz="800">
              <a:solidFill>
                <a:srgbClr val="64748B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640080" y="411480"/>
            <a:ext cx="7772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" sz="2800">
                <a:solidFill>
                  <a:srgbClr val="172554"/>
                </a:solidFill>
              </a:rPr>
              <a:t>Campaign state at a glance</a:t>
            </a:r>
            <a:endParaRPr b="1" sz="2800">
              <a:solidFill>
                <a:srgbClr val="172554"/>
              </a:solidFill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731520" y="1325880"/>
            <a:ext cx="7543800" cy="42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8 ACTIVE LANES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2 awaiting owner updates • 1 blocked on a decision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ATTENTION TODAY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Claims approval • Exec deck • Marketing shoot date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69" name="Google Shape;69;p15"/>
          <p:cNvSpPr txBox="1"/>
          <p:nvPr/>
        </p:nvSpPr>
        <p:spPr>
          <a:xfrm>
            <a:off x="731520" y="6446520"/>
            <a:ext cx="7543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800">
                <a:solidFill>
                  <a:srgbClr val="64748B"/>
                </a:solidFill>
              </a:rPr>
              <a:t>RTX Spark • Exec Review • 03</a:t>
            </a:r>
            <a:endParaRPr sz="800">
              <a:solidFill>
                <a:srgbClr val="64748B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640080" y="411480"/>
            <a:ext cx="7772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" sz="2800">
                <a:solidFill>
                  <a:srgbClr val="172554"/>
                </a:solidFill>
              </a:rPr>
              <a:t>Inference performance — approved for leadership review</a:t>
            </a:r>
            <a:endParaRPr b="1" sz="2800">
              <a:solidFill>
                <a:srgbClr val="172554"/>
              </a:solidFill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731520" y="1325880"/>
            <a:ext cx="7543800" cy="42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2.1× faster time-to-first-token versus the prior approved release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38 tokens/second sustained on the fixed 35B workflow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22% lower energy per completed workflow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OWNER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Pre-production measurements on the RTX Spark reference configuration. Results vary by model, quantization, and workload.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731520" y="6446520"/>
            <a:ext cx="7543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800">
                <a:solidFill>
                  <a:srgbClr val="64748B"/>
                </a:solidFill>
              </a:rPr>
              <a:t>RTX Spark • Exec Review • 04</a:t>
            </a:r>
            <a:endParaRPr sz="800">
              <a:solidFill>
                <a:srgbClr val="64748B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640080" y="411480"/>
            <a:ext cx="7772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" sz="2800">
                <a:solidFill>
                  <a:srgbClr val="172554"/>
                </a:solidFill>
              </a:rPr>
              <a:t>One claim across every surface</a:t>
            </a:r>
            <a:endParaRPr b="1" sz="2800">
              <a:solidFill>
                <a:srgbClr val="172554"/>
              </a:solidFill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731520" y="1325880"/>
            <a:ext cx="7543800" cy="42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IFA DECK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Agent Messaging • Campaign plan • Creative assets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DECISION GATE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Approve wording and disclaimer once, then propagate without drift.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CONTROL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Do not invent, extrapolate, or preserve superseded multipliers.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83" name="Google Shape;83;p17"/>
          <p:cNvSpPr txBox="1"/>
          <p:nvPr/>
        </p:nvSpPr>
        <p:spPr>
          <a:xfrm>
            <a:off x="731520" y="6446520"/>
            <a:ext cx="7543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800">
                <a:solidFill>
                  <a:srgbClr val="64748B"/>
                </a:solidFill>
              </a:rPr>
              <a:t>RTX Spark • Exec Review • 05</a:t>
            </a:r>
            <a:endParaRPr sz="800">
              <a:solidFill>
                <a:srgbClr val="64748B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/>
        </p:nvSpPr>
        <p:spPr>
          <a:xfrm>
            <a:off x="640080" y="411480"/>
            <a:ext cx="7772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" sz="2800">
                <a:solidFill>
                  <a:srgbClr val="172554"/>
                </a:solidFill>
              </a:rPr>
              <a:t>Move the detail out of the live flow</a:t>
            </a:r>
            <a:endParaRPr b="1" sz="2800">
              <a:solidFill>
                <a:srgbClr val="172554"/>
              </a:solidFill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31520" y="1325880"/>
            <a:ext cx="7543800" cy="42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RECOMMENDATION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Cut this standalone detail slide from the live presentation.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WHY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It duplicates the storyline and delays the decisions.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USE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Keep supporting detail in the appendix or presenter notes; carry the essential point into slide 7.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90" name="Google Shape;90;p18"/>
          <p:cNvSpPr txBox="1"/>
          <p:nvPr/>
        </p:nvSpPr>
        <p:spPr>
          <a:xfrm>
            <a:off x="731520" y="6446520"/>
            <a:ext cx="7543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800">
                <a:solidFill>
                  <a:srgbClr val="64748B"/>
                </a:solidFill>
              </a:rPr>
              <a:t>RTX Spark • Exec Review • 06</a:t>
            </a:r>
            <a:endParaRPr sz="800">
              <a:solidFill>
                <a:srgbClr val="64748B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640080" y="411480"/>
            <a:ext cx="7772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" sz="2800">
                <a:solidFill>
                  <a:srgbClr val="172554"/>
                </a:solidFill>
              </a:rPr>
              <a:t>IFA demos — alignment needed</a:t>
            </a:r>
            <a:endParaRPr b="1" sz="2800">
              <a:solidFill>
                <a:srgbClr val="172554"/>
              </a:solidFill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731520" y="1325880"/>
            <a:ext cx="7543800" cy="42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DECISION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Align on the demo slate that best proves the agent-first story.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KNOWN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The event brief requires this decision.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OPEN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Retail demo owner remains unassigned. Confirm the proposed demos and name every owner before closing the slate.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31520" y="6446520"/>
            <a:ext cx="7543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800">
                <a:solidFill>
                  <a:srgbClr val="64748B"/>
                </a:solidFill>
              </a:rPr>
              <a:t>RTX Spark • Exec Review • 07</a:t>
            </a:r>
            <a:endParaRPr sz="800">
              <a:solidFill>
                <a:srgbClr val="64748B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640080" y="411480"/>
            <a:ext cx="7772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" sz="2800">
                <a:solidFill>
                  <a:srgbClr val="172554"/>
                </a:solidFill>
              </a:rPr>
              <a:t>Execution dependencies</a:t>
            </a:r>
            <a:endParaRPr b="1" sz="2800">
              <a:solidFill>
                <a:srgbClr val="172554"/>
              </a:solidFill>
            </a:endParaRPr>
          </a:p>
        </p:txBody>
      </p:sp>
      <p:sp>
        <p:nvSpPr>
          <p:cNvPr id="103" name="Google Shape;103;p20"/>
          <p:cNvSpPr txBox="1"/>
          <p:nvPr/>
        </p:nvSpPr>
        <p:spPr>
          <a:xfrm>
            <a:off x="731520" y="1325880"/>
            <a:ext cx="7543800" cy="42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CLAIMS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Approval unlocks deck, messaging, and creative updates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OWNERS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Two campaign lanes still need current PIC updates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PARTNERS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Commitments must map back to the approved keynote and demo decisions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104" name="Google Shape;104;p20"/>
          <p:cNvSpPr txBox="1"/>
          <p:nvPr/>
        </p:nvSpPr>
        <p:spPr>
          <a:xfrm>
            <a:off x="731520" y="6446520"/>
            <a:ext cx="7543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800">
                <a:solidFill>
                  <a:srgbClr val="64748B"/>
                </a:solidFill>
              </a:rPr>
              <a:t>RTX Spark • Exec Review • 08</a:t>
            </a:r>
            <a:endParaRPr sz="800">
              <a:solidFill>
                <a:srgbClr val="64748B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640080" y="411480"/>
            <a:ext cx="7772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" sz="2800">
                <a:solidFill>
                  <a:srgbClr val="172554"/>
                </a:solidFill>
              </a:rPr>
              <a:t>Marketing shoot — decision required</a:t>
            </a:r>
            <a:endParaRPr b="1" sz="2800">
              <a:solidFill>
                <a:srgbClr val="172554"/>
              </a:solidFill>
            </a:endParaRPr>
          </a:p>
        </p:txBody>
      </p:sp>
      <p:sp>
        <p:nvSpPr>
          <p:cNvPr id="110" name="Google Shape;110;p21"/>
          <p:cNvSpPr txBox="1"/>
          <p:nvPr/>
        </p:nvSpPr>
        <p:spPr>
          <a:xfrm>
            <a:off x="731520" y="1325880"/>
            <a:ext cx="7543800" cy="42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BLOCKER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The planned venue is unavailable on Wednesday.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DECISION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Choose Studio B Friday or Studio C Tuesday; reconfirm venue and crew availability before committing.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IMPACT</a:t>
            </a:r>
            <a:endParaRPr sz="17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1700">
                <a:solidFill>
                  <a:srgbClr val="1F2937"/>
                </a:solidFill>
              </a:rPr>
              <a:t>Priya cannot rebook the venue or protect downstream crew holds until the date is set.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111" name="Google Shape;111;p21"/>
          <p:cNvSpPr txBox="1"/>
          <p:nvPr/>
        </p:nvSpPr>
        <p:spPr>
          <a:xfrm>
            <a:off x="731520" y="6446520"/>
            <a:ext cx="7543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800">
                <a:solidFill>
                  <a:srgbClr val="64748B"/>
                </a:solidFill>
              </a:rPr>
              <a:t>RTX Spark • Exec Review • 09</a:t>
            </a:r>
            <a:endParaRPr sz="800">
              <a:solidFill>
                <a:srgbClr val="64748B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640080" y="411480"/>
            <a:ext cx="7772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" sz="2800">
                <a:solidFill>
                  <a:srgbClr val="172554"/>
                </a:solidFill>
              </a:rPr>
              <a:t>Two decisions to leave with</a:t>
            </a:r>
            <a:endParaRPr b="1" sz="2800">
              <a:solidFill>
                <a:srgbClr val="172554"/>
              </a:solidFill>
            </a:endParaRPr>
          </a:p>
        </p:txBody>
      </p:sp>
      <p:sp>
        <p:nvSpPr>
          <p:cNvPr id="117" name="Google Shape;117;p22"/>
          <p:cNvSpPr txBox="1"/>
          <p:nvPr/>
        </p:nvSpPr>
        <p:spPr>
          <a:xfrm>
            <a:off x="731520" y="1325880"/>
            <a:ext cx="7543800" cy="42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1F2937"/>
                </a:solidFill>
              </a:rPr>
              <a:t>1  APPROVE THE PROPOSED KEYNOTE STORYLINE</a:t>
            </a:r>
            <a:endParaRPr sz="18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1F2937"/>
                </a:solidFill>
              </a:rPr>
              <a:t>Lead with agents; use specifications as evidence.</a:t>
            </a:r>
            <a:endParaRPr sz="18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1F2937"/>
                </a:solidFill>
              </a:rPr>
              <a:t>2  ALIGN ON THE DEMOS FOR IFA</a:t>
            </a:r>
            <a:endParaRPr sz="18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1F2937"/>
                </a:solidFill>
              </a:rPr>
              <a:t>Confirm the slate and owners that prove the story.</a:t>
            </a:r>
            <a:endParaRPr sz="18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1F2937"/>
                </a:solidFill>
              </a:rPr>
              <a:t>Working files</a:t>
            </a:r>
            <a:endParaRPr sz="1800">
              <a:solidFill>
                <a:srgbClr val="1F2937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1800" u="sng">
                <a:solidFill>
                  <a:srgbClr val="2563EB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Campaign tracker</a:t>
            </a:r>
            <a:r>
              <a:rPr lang="en" sz="1800">
                <a:solidFill>
                  <a:srgbClr val="1F2937"/>
                </a:solidFill>
              </a:rPr>
              <a:t> • </a:t>
            </a:r>
            <a:r>
              <a:rPr lang="en" sz="1800" u="sng">
                <a:solidFill>
                  <a:srgbClr val="2563EB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Campaign plan</a:t>
            </a:r>
            <a:endParaRPr sz="1800" u="sng">
              <a:solidFill>
                <a:srgbClr val="2563EB"/>
              </a:solidFill>
            </a:endParaRPr>
          </a:p>
        </p:txBody>
      </p:sp>
      <p:sp>
        <p:nvSpPr>
          <p:cNvPr id="118" name="Google Shape;118;p22"/>
          <p:cNvSpPr txBox="1"/>
          <p:nvPr/>
        </p:nvSpPr>
        <p:spPr>
          <a:xfrm>
            <a:off x="731520" y="6446520"/>
            <a:ext cx="7543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800">
                <a:solidFill>
                  <a:srgbClr val="64748B"/>
                </a:solidFill>
              </a:rPr>
              <a:t>RTX Spark • Exec Review • 10</a:t>
            </a:r>
            <a:endParaRPr sz="800">
              <a:solidFill>
                <a:srgbClr val="64748B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