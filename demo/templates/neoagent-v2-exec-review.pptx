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8671fc2b714e26" /><Relationship Type="http://schemas.openxmlformats.org/officeDocument/2006/relationships/extended-properties" Target="/docProps/app.xml" Id="Rc9f2014fa3b649e1" /><Relationship Type="http://schemas.openxmlformats.org/officeDocument/2006/relationships/officeDocument" Target="/ppt/presentation.xml" Id="Rd8cfd51ba1c240f9" /></Relationships>
</file>

<file path=ppt/presentation.xml><?xml version="1.0" encoding="utf-8"?>
<p:presentation xmlns:p="http://schemas.openxmlformats.org/presentationml/2006/main">
  <p:sldMasterIdLst>
    <p:sldMasterId xmlns:r="http://schemas.openxmlformats.org/officeDocument/2006/relationships" id="2147483648" r:id="R3d72593b40ca409e"/>
  </p:sldMasterIdLst>
  <p:notesMasterIdLst>
    <p:notesMasterId xmlns:r="http://schemas.openxmlformats.org/officeDocument/2006/relationships" r:id="R8cd680a451e24772"/>
  </p:notesMasterIdLst>
  <p:sldIdLst>
    <p:sldId xmlns:r="http://schemas.openxmlformats.org/officeDocument/2006/relationships" id="256" r:id="Rcf7d686828ec4016"/>
    <p:sldId xmlns:r="http://schemas.openxmlformats.org/officeDocument/2006/relationships" id="257" r:id="Rfb7e9620d0594515"/>
    <p:sldId xmlns:r="http://schemas.openxmlformats.org/officeDocument/2006/relationships" id="258" r:id="Rae1f6e89340943a5"/>
    <p:sldId xmlns:r="http://schemas.openxmlformats.org/officeDocument/2006/relationships" id="259" r:id="R1c2aab71e5c34f7b"/>
    <p:sldId xmlns:r="http://schemas.openxmlformats.org/officeDocument/2006/relationships" id="260" r:id="R01c507b78530444d"/>
    <p:sldId xmlns:r="http://schemas.openxmlformats.org/officeDocument/2006/relationships" id="261" r:id="R4f45861830f344cc"/>
    <p:sldId xmlns:r="http://schemas.openxmlformats.org/officeDocument/2006/relationships" id="262" r:id="R3e73c4091c9344ad"/>
    <p:sldId xmlns:r="http://schemas.openxmlformats.org/officeDocument/2006/relationships" id="263" r:id="R86ddb9f499e54b08"/>
    <p:sldId xmlns:r="http://schemas.openxmlformats.org/officeDocument/2006/relationships" id="264" r:id="R2fa5407e2a5e418d"/>
    <p:sldId xmlns:r="http://schemas.openxmlformats.org/officeDocument/2006/relationships" id="265" r:id="R5e1b44e1d06a42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b4ee89f99e4313" /><Relationship Type="http://schemas.openxmlformats.org/officeDocument/2006/relationships/slideMaster" Target="/ppt/slideMasters/slideMaster1.xml" Id="R3d72593b40ca409e" /><Relationship Type="http://schemas.openxmlformats.org/officeDocument/2006/relationships/notesMaster" Target="/ppt/notesMasters/notesMaster1.xml" Id="R8cd680a451e24772" /><Relationship Type="http://schemas.openxmlformats.org/officeDocument/2006/relationships/presProps" Target="/ppt/presProps.xml" Id="Re02cbb5d30a8425a" /><Relationship Type="http://schemas.openxmlformats.org/officeDocument/2006/relationships/tableStyles" Target="/ppt/tableStyles.xml" Id="Rce3503d50f4d4883" /><Relationship Type="http://schemas.openxmlformats.org/officeDocument/2006/relationships/slide" Target="/ppt/slides/slide1.xml" Id="Rcf7d686828ec4016" /><Relationship Type="http://schemas.openxmlformats.org/officeDocument/2006/relationships/slide" Target="/ppt/slides/slide2.xml" Id="Rfb7e9620d0594515" /><Relationship Type="http://schemas.openxmlformats.org/officeDocument/2006/relationships/slide" Target="/ppt/slides/slide3.xml" Id="Rae1f6e89340943a5" /><Relationship Type="http://schemas.openxmlformats.org/officeDocument/2006/relationships/slide" Target="/ppt/slides/slide4.xml" Id="R1c2aab71e5c34f7b" /><Relationship Type="http://schemas.openxmlformats.org/officeDocument/2006/relationships/slide" Target="/ppt/slides/slide5.xml" Id="R01c507b78530444d" /><Relationship Type="http://schemas.openxmlformats.org/officeDocument/2006/relationships/slide" Target="/ppt/slides/slide6.xml" Id="R4f45861830f344cc" /><Relationship Type="http://schemas.openxmlformats.org/officeDocument/2006/relationships/slide" Target="/ppt/slides/slide7.xml" Id="R3e73c4091c9344ad" /><Relationship Type="http://schemas.openxmlformats.org/officeDocument/2006/relationships/slide" Target="/ppt/slides/slide8.xml" Id="R86ddb9f499e54b08" /><Relationship Type="http://schemas.openxmlformats.org/officeDocument/2006/relationships/slide" Target="/ppt/slides/slide9.xml" Id="R2fa5407e2a5e418d" /><Relationship Type="http://schemas.openxmlformats.org/officeDocument/2006/relationships/slide" Target="/ppt/slides/slide10.xml" Id="R5e1b44e1d06a42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ccd1f05cb744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d793962f484448" /><Relationship Type="http://schemas.openxmlformats.org/officeDocument/2006/relationships/notesMaster" Target="/ppt/notesMasters/notesMaster1.xml" Id="Re60cdd47d05842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958454e1154760" /><Relationship Type="http://schemas.openxmlformats.org/officeDocument/2006/relationships/notesMaster" Target="/ppt/notesMasters/notesMaster1.xml" Id="R3478b8d6bfd140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7af5238b734e67" /><Relationship Type="http://schemas.openxmlformats.org/officeDocument/2006/relationships/notesMaster" Target="/ppt/notesMasters/notesMaster1.xml" Id="R420010abec974d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4f5b4301ef4c18" /><Relationship Type="http://schemas.openxmlformats.org/officeDocument/2006/relationships/notesMaster" Target="/ppt/notesMasters/notesMaster1.xml" Id="Rdd30121b0d894c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2149326b554dbb" /><Relationship Type="http://schemas.openxmlformats.org/officeDocument/2006/relationships/notesMaster" Target="/ppt/notesMasters/notesMaster1.xml" Id="R422cf90bf74346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7b5120c7b1441f" /><Relationship Type="http://schemas.openxmlformats.org/officeDocument/2006/relationships/notesMaster" Target="/ppt/notesMasters/notesMaster1.xml" Id="Rd78d1bb1380e4b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3c57dd9f2444e4" /><Relationship Type="http://schemas.openxmlformats.org/officeDocument/2006/relationships/notesMaster" Target="/ppt/notesMasters/notesMaster1.xml" Id="R098772a25a034f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5d5bb2b5cf4cae" /><Relationship Type="http://schemas.openxmlformats.org/officeDocument/2006/relationships/notesMaster" Target="/ppt/notesMasters/notesMaster1.xml" Id="R884f4f9e3d8c42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2f458f13b74739" /><Relationship Type="http://schemas.openxmlformats.org/officeDocument/2006/relationships/notesMaster" Target="/ppt/notesMasters/notesMaster1.xml" Id="Ra21f317df42140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ea6747aa9b4d02" /><Relationship Type="http://schemas.openxmlformats.org/officeDocument/2006/relationships/notesMaster" Target="/ppt/notesMasters/notesMaster1.xml" Id="R1e180961b3df40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working deck. NeoAgent is fictional. Benchmark figures in the supporting package are illustrative demo data. The keynote storyline and GTC demo slate are proposals awaiting leadership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harness before benchmark results. A harness is the software that coordinates the model and tools. Do not imply that V2 is a newly trained foundation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Approval of evidence is distinct from applying edits. Aisha reviewed the deck but did not change it. Do not report the entire campaign as approved.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Intentional seed placeholder for the deck-editing task. Mike’s email provides the approved figures. Keep this slide pending at reset. The final comparison must identify V1 beside every V2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“median” and “per completed task.” Express the task-success difference in percentage points. Do not add energy, hardware, or customer-deployment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Aisha’s requested edit is to summarize this slide in slide 7’s Customer Example section and remove slide 6 from the live flow. Preserve the local comparison, associate review, and handling of customer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promote the retail example or Windows pilot into the approved slate. Leadership must decide inclusion and owners. Grant Walker is a retail-readiness contact, not an assigned final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lane has its own completion criteria. Benchmark approval can be complete while deck updates and external messaging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venue choice is a separate production decision. Do not invent cost or availability differences beyond the two offers. This deadline is not an additional goal of the executive meeting.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chairs the review. The user presents the proposed story and slate. Mike, Aisha, and Daniel provide product, presentation/partner, and Legal context. Decisions remain open in the seed.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20c0d48f0e4f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6fa299bda44593" /><Relationship Type="http://schemas.openxmlformats.org/officeDocument/2006/relationships/slideLayout" Target="/ppt/slideLayouts/slideLayout1.xml" Id="R302e4767339e4e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2e4767339e4e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1271f8d3f143e8" /><Relationship Type="http://schemas.openxmlformats.org/officeDocument/2006/relationships/notesSlide" Target="/ppt/notesSlides/notesSlide1.xml" Id="R94b162a775454d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12a8d4acaf4d9a" /><Relationship Type="http://schemas.openxmlformats.org/officeDocument/2006/relationships/notesSlide" Target="/ppt/notesSlides/notesSlide2.xml" Id="Rf16c7d54536a40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486e40216d4227" /><Relationship Type="http://schemas.openxmlformats.org/officeDocument/2006/relationships/notesSlide" Target="/ppt/notesSlides/notesSlide3.xml" Id="R3938c94a09eb4c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03eab5fee5401d" /><Relationship Type="http://schemas.openxmlformats.org/officeDocument/2006/relationships/notesSlide" Target="/ppt/notesSlides/notesSlide4.xml" Id="Rb7f3d1c0c6b04f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3f3acca4db46c7" /><Relationship Type="http://schemas.openxmlformats.org/officeDocument/2006/relationships/notesSlide" Target="/ppt/notesSlides/notesSlide5.xml" Id="Rc84be31718fc4e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2960a863804df2" /><Relationship Type="http://schemas.openxmlformats.org/officeDocument/2006/relationships/notesSlide" Target="/ppt/notesSlides/notesSlide6.xml" Id="R4a2d77c2e3b142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583432576a4583" /><Relationship Type="http://schemas.openxmlformats.org/officeDocument/2006/relationships/notesSlide" Target="/ppt/notesSlides/notesSlide7.xml" Id="R88e35c17034c4c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a7b4fad99840c1" /><Relationship Type="http://schemas.openxmlformats.org/officeDocument/2006/relationships/notesSlide" Target="/ppt/notesSlides/notesSlide8.xml" Id="R60e80e9566c54b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1798fa672f4a11" /><Relationship Type="http://schemas.openxmlformats.org/officeDocument/2006/relationships/notesSlide" Target="/ppt/notesSlides/notesSlide9.xml" Id="R9a618ee8445945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ae25498d6d4d6f" /><Relationship Type="http://schemas.openxmlformats.org/officeDocument/2006/relationships/notesSlide" Target="/ppt/notesSlides/notesSlide10.xml" Id="Rbba099166c8342e5" /></Relationships>
</file>

<file path=ppt/slides/slide1.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019DD4-2917-4B73-ADB4-5444EC32AFA1}"/>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2F5EF"/>
                </a:solidFill>
                <a:latin typeface="Arial"/>
                <a:ea typeface="Arial"/>
                <a:cs typeface="Arial"/>
              </a:defRPr>
            </a:pPr>
            <a:r>
              <a:rPr sz="4200" b="1">
                <a:solidFill>
                  <a:srgbClr val="F2F5EF"/>
                </a:solidFill>
                <a:latin typeface="Arial"/>
                <a:ea typeface="Arial"/>
                <a:cs typeface="Arial"/>
              </a:rPr>
              <a:t>NeoAgent V2 · Exec Review</a:t>
            </a:r>
          </a:p>
        </p:txBody>
      </p:sp>
      <p:sp>
        <p:nvSpPr>
          <p:cNvPr id="2" name="">
            <a:extLst xmlns:a="http://schemas.openxmlformats.org/drawingml/2006/main">
              <a:ext uri="{FF2B5EF4-FFF2-40B4-BE49-F238E27FC236}">
                <a16:creationId xmlns:a16="http://schemas.microsoft.com/office/drawing/2014/main" id="{F006C189-C190-49D3-BFAC-BD7A3D9B86EB}"/>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2F5EF"/>
                </a:solidFill>
                <a:latin typeface="Arial"/>
                <a:ea typeface="Arial"/>
                <a:cs typeface="Arial"/>
              </a:defRPr>
            </a:pPr>
            <a:r>
              <a:rPr sz="2325" b="0">
                <a:solidFill>
                  <a:srgbClr val="F2F5EF"/>
                </a:solidFill>
                <a:latin typeface="Arial"/>
                <a:ea typeface="Arial"/>
                <a:cs typeface="Arial"/>
              </a:rPr>
              <a:t>FROM REQUEST TO FINISHED WORK</a:t>
            </a:r>
          </a:p>
          <a:p xmlns:a="http://schemas.openxmlformats.org/drawingml/2006/main">
            <a:pPr>
              <a:defRPr sz="2325" b="0">
                <a:solidFill>
                  <a:srgbClr val="F2F5EF"/>
                </a:solidFill>
                <a:latin typeface="Arial"/>
                <a:ea typeface="Arial"/>
                <a:cs typeface="Arial"/>
              </a:defRPr>
            </a:pPr>
            <a:r>
              <a:rPr sz="2325" b="0">
                <a:solidFill>
                  <a:srgbClr val="F2F5EF"/>
                </a:solidFill>
                <a:latin typeface="Arial"/>
                <a:ea typeface="Arial"/>
                <a:cs typeface="Arial"/>
              </a:rPr>
              <a:t>An agent harness for planning, tool use, and verified outcomes.</a:t>
            </a:r>
          </a:p>
          <a:p xmlns:a="http://schemas.openxmlformats.org/drawingml/2006/main">
            <a:r>
              <a:t/>
            </a:r>
          </a:p>
          <a:p xmlns:a="http://schemas.openxmlformats.org/drawingml/2006/main">
            <a:pPr>
              <a:defRPr sz="2325" b="0">
                <a:solidFill>
                  <a:srgbClr val="F2F5EF"/>
                </a:solidFill>
                <a:latin typeface="Arial"/>
                <a:ea typeface="Arial"/>
                <a:cs typeface="Arial"/>
              </a:defRPr>
            </a:pPr>
            <a:r>
              <a:rPr sz="2325" b="0">
                <a:solidFill>
                  <a:srgbClr val="F2F5EF"/>
                </a:solidFill>
                <a:latin typeface="Arial"/>
                <a:ea typeface="Arial"/>
                <a:cs typeface="Arial"/>
              </a:rPr>
              <a:t>LEADERSHIP DECISIONS</a:t>
            </a:r>
          </a:p>
          <a:p xmlns:a="http://schemas.openxmlformats.org/drawingml/2006/main">
            <a:pPr>
              <a:defRPr sz="2325" b="0">
                <a:solidFill>
                  <a:srgbClr val="F2F5EF"/>
                </a:solidFill>
                <a:latin typeface="Arial"/>
                <a:ea typeface="Arial"/>
                <a:cs typeface="Arial"/>
              </a:defRPr>
            </a:pPr>
            <a:r>
              <a:rPr sz="2325" b="0">
                <a:solidFill>
                  <a:srgbClr val="F2F5EF"/>
                </a:solidFill>
                <a:latin typeface="Arial"/>
                <a:ea typeface="Arial"/>
                <a:cs typeface="Arial"/>
              </a:rPr>
              <a:t>Approve the proposed keynote story and choose the GTC demo slate.</a:t>
            </a:r>
          </a:p>
          <a:p xmlns:a="http://schemas.openxmlformats.org/drawingml/2006/main">
            <a:r>
              <a:t/>
            </a:r>
          </a:p>
          <a:p xmlns:a="http://schemas.openxmlformats.org/drawingml/2006/main">
            <a:pPr>
              <a:defRPr sz="2325" b="0">
                <a:solidFill>
                  <a:srgbClr val="F2F5EF"/>
                </a:solidFill>
                <a:latin typeface="Arial"/>
                <a:ea typeface="Arial"/>
                <a:cs typeface="Arial"/>
              </a:defRPr>
            </a:pPr>
            <a:r>
              <a:rPr sz="2325" b="0">
                <a:solidFill>
                  <a:srgbClr val="F2F5EF"/>
                </a:solidFill>
                <a:latin typeface="Arial"/>
                <a:ea typeface="Arial"/>
                <a:cs typeface="Arial"/>
              </a:rPr>
              <a:t>DISCUSSION</a:t>
            </a:r>
          </a:p>
          <a:p xmlns:a="http://schemas.openxmlformats.org/drawingml/2006/main">
            <a:pPr>
              <a:defRPr sz="2325" b="0">
                <a:solidFill>
                  <a:srgbClr val="F2F5EF"/>
                </a:solidFill>
                <a:latin typeface="Arial"/>
                <a:ea typeface="Arial"/>
                <a:cs typeface="Arial"/>
              </a:defRPr>
            </a:pPr>
            <a:r>
              <a:rPr sz="2325" b="0">
                <a:solidFill>
                  <a:srgbClr val="F2F5EF"/>
                </a:solidFill>
                <a:latin typeface="Arial"/>
                <a:ea typeface="Arial"/>
                <a:cs typeface="Arial"/>
              </a:rPr>
              <a:t>Product evidence, demo readiness, and the owners needed to deliver the launch.</a:t>
            </a:r>
          </a:p>
        </p:txBody>
      </p:sp>
      <p:sp>
        <p:nvSpPr>
          <p:cNvPr id="3" name="">
            <a:extLst xmlns:a="http://schemas.openxmlformats.org/drawingml/2006/main">
              <a:ext uri="{FF2B5EF4-FFF2-40B4-BE49-F238E27FC236}">
                <a16:creationId xmlns:a16="http://schemas.microsoft.com/office/drawing/2014/main" id="{88806BC2-1A81-4992-A9F4-14816E747887}"/>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9FDB2EC0-99FF-45EC-925B-FC9C7ECFA4A5}"/>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8A6364A-49C3-4A05-8929-439B5B55EF17}"/>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LEADERSHIP WORKING SESSION</a:t>
            </a:r>
          </a:p>
        </p:txBody>
      </p:sp>
    </p:spTree>
    <p:extLst>
      <p:ext uri="{BB962C8B-B14F-4D97-AF65-F5344CB8AC3E}">
        <p14:creationId xmlns:p14="http://schemas.microsoft.com/office/powerpoint/2010/main" val="568099971"/>
      </p:ext>
    </p:extLst>
  </p:cSld>
</p:sld>
</file>

<file path=ppt/slides/slide2.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5F8766-0138-420E-84C9-D7D7D31C2642}"/>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Lead with the work the agent finishes</a:t>
            </a:r>
          </a:p>
        </p:txBody>
      </p:sp>
      <p:sp>
        <p:nvSpPr>
          <p:cNvPr id="2" name="">
            <a:extLst xmlns:a="http://schemas.openxmlformats.org/drawingml/2006/main">
              <a:ext uri="{FF2B5EF4-FFF2-40B4-BE49-F238E27FC236}">
                <a16:creationId xmlns:a16="http://schemas.microsoft.com/office/drawing/2014/main" id="{7890C1BF-FA46-43AE-BE61-F99658872FB1}"/>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CUSTOMER PROBLEM</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Useful context sits across email, calendars, and files. People still connect it, choose the next step, and check whether work actually landed.</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PROPOSED STORY</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NeoAgent V2 wraps an existing model with planning, context selection, tool execution, and completion checks. The user stays in control of decisions and changes.</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PROOF</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Compare NeoAgent V2 with NeoAgent V1 under the same model and evaluation conditions. Show a recognizable workflow, its sources, and the saved result.</a:t>
            </a:r>
          </a:p>
        </p:txBody>
      </p:sp>
      <p:sp>
        <p:nvSpPr>
          <p:cNvPr id="3" name="">
            <a:extLst xmlns:a="http://schemas.openxmlformats.org/drawingml/2006/main">
              <a:ext uri="{FF2B5EF4-FFF2-40B4-BE49-F238E27FC236}">
                <a16:creationId xmlns:a16="http://schemas.microsoft.com/office/drawing/2014/main" id="{5389CA62-3E5F-4685-A7A7-C915B540297B}"/>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3514D87C-3AF2-4835-A98C-6A3B186B9A66}"/>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A995A1C-4FE4-476F-827B-9C66CEF23A20}"/>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328854166"/>
      </p:ext>
    </p:extLst>
  </p:cSld>
</p:sld>
</file>

<file path=ppt/slides/slide3.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9662E9-9D08-40A0-A4CC-4474FD1FF8EC}"/>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Campaign readiness</a:t>
            </a:r>
          </a:p>
        </p:txBody>
      </p:sp>
      <p:sp>
        <p:nvSpPr>
          <p:cNvPr id="2" name="">
            <a:extLst xmlns:a="http://schemas.openxmlformats.org/drawingml/2006/main">
              <a:ext uri="{FF2B5EF4-FFF2-40B4-BE49-F238E27FC236}">
                <a16:creationId xmlns:a16="http://schemas.microsoft.com/office/drawing/2014/main" id="{8AB84C4F-D8CA-4154-BD92-EEE3FFCCF489}"/>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EVIDENCE READY</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Mike’s benchmark package is approved for leadership review. Slide 4 and dependent messaging still need the approved V2-versus-V1 comparison.</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DECK EDITS OPEN</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Aisha’s review is complete. Consolidate the customer example, keep the opening focused, and reserve discussion for the decisions on slide 10.</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LEADERSHIP INPUT NEEDED</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proposed keynote story and GTC demo slate remain open. Partner inclusion and the final retail demo assignment are not yet approved.</a:t>
            </a:r>
          </a:p>
        </p:txBody>
      </p:sp>
      <p:sp>
        <p:nvSpPr>
          <p:cNvPr id="3" name="">
            <a:extLst xmlns:a="http://schemas.openxmlformats.org/drawingml/2006/main">
              <a:ext uri="{FF2B5EF4-FFF2-40B4-BE49-F238E27FC236}">
                <a16:creationId xmlns:a16="http://schemas.microsoft.com/office/drawing/2014/main" id="{48E88718-6D66-4DB3-B1B1-2CD9725F8DD8}"/>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219B81C3-B188-4BAE-B8A4-D19DCE569389}"/>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BC861EE-5ADA-4527-9EDD-CA5359B37295}"/>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636323887"/>
      </p:ext>
    </p:extLst>
  </p:cSld>
</p:sld>
</file>

<file path=ppt/slides/slide4.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008781-6CB4-41C8-8321-406ACFF364D8}"/>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Performance results: update required</a:t>
            </a:r>
          </a:p>
        </p:txBody>
      </p:sp>
      <p:sp>
        <p:nvSpPr>
          <p:cNvPr id="2" name="">
            <a:extLst xmlns:a="http://schemas.openxmlformats.org/drawingml/2006/main">
              <a:ext uri="{FF2B5EF4-FFF2-40B4-BE49-F238E27FC236}">
                <a16:creationId xmlns:a16="http://schemas.microsoft.com/office/drawing/2014/main" id="{F752A945-427A-4612-8DFC-37B0D78274E8}"/>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APPROVED COMPARISON TO INSERT</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Performance results to go here. See Mike Chen’s approved package for NeoAgent V2 versus NeoAgent V1.</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EVALUATION BASIS</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same 200 internal document, email, and scheduling workflows, underlying model, and execution environment.</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MEASURES</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Task success · Median completion time · Model tokens per completed task</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SCOPE</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Retain the V1 baseline and metric definitions. Leadership-review clearance does not approve final external copy.</a:t>
            </a:r>
          </a:p>
        </p:txBody>
      </p:sp>
      <p:sp>
        <p:nvSpPr>
          <p:cNvPr id="3" name="">
            <a:extLst xmlns:a="http://schemas.openxmlformats.org/drawingml/2006/main">
              <a:ext uri="{FF2B5EF4-FFF2-40B4-BE49-F238E27FC236}">
                <a16:creationId xmlns:a16="http://schemas.microsoft.com/office/drawing/2014/main" id="{2C8BF7FC-97F5-4C28-95C4-D25F38E7BD8E}"/>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2AC5D7FB-4861-45FA-98A2-418A0F057935}"/>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07FE65C-5E54-4F95-87C2-228EE04DAEBA}"/>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67443812"/>
      </p:ext>
    </p:extLst>
  </p:cSld>
</p:sld>
</file>

<file path=ppt/slides/slide5.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9C792E-5445-46A7-B13D-95CB8F027835}"/>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Keep the comparison intact across every surface</a:t>
            </a:r>
          </a:p>
        </p:txBody>
      </p:sp>
      <p:sp>
        <p:nvSpPr>
          <p:cNvPr id="2" name="">
            <a:extLst xmlns:a="http://schemas.openxmlformats.org/drawingml/2006/main">
              <a:ext uri="{FF2B5EF4-FFF2-40B4-BE49-F238E27FC236}">
                <a16:creationId xmlns:a16="http://schemas.microsoft.com/office/drawing/2014/main" id="{5E28670B-DF90-4430-8CD9-4110E3CD016E}"/>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CONSISTENT CLAIM</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deck, campaign plan, partner materials, and social copy must use the same NeoAgent V2-versus-V1 baseline and internal evaluation scope.</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METRICS MEAN DIFFERENT THINGS</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Task success describes correct completion. Median time describes typical duration. Model tokens per completed task describe usage, including retries.</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APPROVAL BOUNDARY</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Daniel cleared the wording for leadership review. External assets need a separate review. Internal workflow results are not universal customer outcomes or model-inference benchmarks.</a:t>
            </a:r>
          </a:p>
        </p:txBody>
      </p:sp>
      <p:sp>
        <p:nvSpPr>
          <p:cNvPr id="3" name="">
            <a:extLst xmlns:a="http://schemas.openxmlformats.org/drawingml/2006/main">
              <a:ext uri="{FF2B5EF4-FFF2-40B4-BE49-F238E27FC236}">
                <a16:creationId xmlns:a16="http://schemas.microsoft.com/office/drawing/2014/main" id="{2BA29438-75AA-4636-AE39-BC81DD223536}"/>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6A7982FD-C66A-4991-8604-B7E6392FDBA1}"/>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EB39C58-F80C-4799-9EA2-B1721E605A1C}"/>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472560251"/>
      </p:ext>
    </p:extLst>
  </p:cSld>
</p:sld>
</file>

<file path=ppt/slides/slide6.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901F1C-915B-4DE9-805E-3E35AC8AD703}"/>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Customer use example</a:t>
            </a:r>
          </a:p>
        </p:txBody>
      </p:sp>
      <p:sp>
        <p:nvSpPr>
          <p:cNvPr id="2" name="">
            <a:extLst xmlns:a="http://schemas.openxmlformats.org/drawingml/2006/main">
              <a:ext uri="{FF2B5EF4-FFF2-40B4-BE49-F238E27FC236}">
                <a16:creationId xmlns:a16="http://schemas.microsoft.com/office/drawing/2014/main" id="{10321333-00A8-4F0C-811D-D73D0215F35D}"/>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SCENARIO</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A retail associate compares two laptops using a local product catalog. A customer needs help weighing portability, battery life, and the applications they use.</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ASSISTANCE</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NeoAgent V2 retrieves the relevant catalog entries, summarizes the tradeoffs, and drafts a customer follow-up that the associate can check.</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CUSTOMER VALUE</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associate reviews the draft before sending. Customer details stay on the device in this proposed workflow. This is an illustrative use case, not customer validation or an approved demo selection.</a:t>
            </a:r>
          </a:p>
        </p:txBody>
      </p:sp>
      <p:sp>
        <p:nvSpPr>
          <p:cNvPr id="3" name="">
            <a:extLst xmlns:a="http://schemas.openxmlformats.org/drawingml/2006/main">
              <a:ext uri="{FF2B5EF4-FFF2-40B4-BE49-F238E27FC236}">
                <a16:creationId xmlns:a16="http://schemas.microsoft.com/office/drawing/2014/main" id="{30698A65-176F-419E-939F-8E94EE493757}"/>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AE3BDE7B-2D29-451D-87F6-ADD40BE79DBB}"/>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3BBD3B3-790C-43B3-8F32-54744B6A245F}"/>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1522041988"/>
      </p:ext>
    </p:extLst>
  </p:cSld>
</p:sld>
</file>

<file path=ppt/slides/slide7.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7E96D9-26F5-4E4E-BAD5-5C05C972DB99}"/>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GTC demos — alignment needed</a:t>
            </a:r>
          </a:p>
        </p:txBody>
      </p:sp>
      <p:sp>
        <p:nvSpPr>
          <p:cNvPr id="2" name="">
            <a:extLst xmlns:a="http://schemas.openxmlformats.org/drawingml/2006/main">
              <a:ext uri="{FF2B5EF4-FFF2-40B4-BE49-F238E27FC236}">
                <a16:creationId xmlns:a16="http://schemas.microsoft.com/office/drawing/2014/main" id="{A3175C81-0748-471D-A803-9D12D2CC873D}"/>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WORKPLACE ASSISTANCE</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A daily brief and a saved email draft show context gathering, useful prioritization, and a result the user can review.</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PARTNER WORKFLOW</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staged Windows pilot passed its smoke check. Confirm launch relevance and an accountable presenter before including it.</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CUSTOMER EXAMPLE</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Candidate use case still to be summarized for the review. Final retail ownership remains open.</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SELECTION CRITERIA</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Choose distinct audience value, credible live readiness, and a clear user decision. No selection is approved yet.</a:t>
            </a:r>
          </a:p>
        </p:txBody>
      </p:sp>
      <p:sp>
        <p:nvSpPr>
          <p:cNvPr id="3" name="">
            <a:extLst xmlns:a="http://schemas.openxmlformats.org/drawingml/2006/main">
              <a:ext uri="{FF2B5EF4-FFF2-40B4-BE49-F238E27FC236}">
                <a16:creationId xmlns:a16="http://schemas.microsoft.com/office/drawing/2014/main" id="{7662A449-A644-42EF-BE5A-F2D8780EC617}"/>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EEEFBBEB-4C27-4DEA-8732-9403D5E253D7}"/>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2166025-8EF8-424F-A18F-0DB9E8C1AD22}"/>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1483619645"/>
      </p:ext>
    </p:extLst>
  </p:cSld>
</p:sld>
</file>

<file path=ppt/slides/slide8.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3CC566-2F65-443B-AF8F-AD58C00EC4F1}"/>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Execution dependencies</a:t>
            </a:r>
          </a:p>
        </p:txBody>
      </p:sp>
      <p:sp>
        <p:nvSpPr>
          <p:cNvPr id="2" name="">
            <a:extLst xmlns:a="http://schemas.openxmlformats.org/drawingml/2006/main">
              <a:ext uri="{FF2B5EF4-FFF2-40B4-BE49-F238E27FC236}">
                <a16:creationId xmlns:a16="http://schemas.microsoft.com/office/drawing/2014/main" id="{28B0EF77-7E9F-46DE-AC23-79F54FBB9D75}"/>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PRODUCT AND LEGAL · MIKE / DANIEL</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Carry the approved comparison into slide 4, then review external adaptations with their baseline and evaluation conditions intact.</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PRESENTATION AND PARTNERS · AISHA</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Complete the deck pass and resolve partner inclusion against the proposed story. Confirm presenters and a fallback for each selected demo.</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PRODUCTION · PRIYA</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venue choice determines the shoot date and crew booking. Dependent assets cannot be treated as scheduled until the replacement is confirmed.</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SOCIAL · RAFAEL</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Obtain the latest asset readiness, timing, and blockers before promising rollout dates.</a:t>
            </a:r>
          </a:p>
        </p:txBody>
      </p:sp>
      <p:sp>
        <p:nvSpPr>
          <p:cNvPr id="3" name="">
            <a:extLst xmlns:a="http://schemas.openxmlformats.org/drawingml/2006/main">
              <a:ext uri="{FF2B5EF4-FFF2-40B4-BE49-F238E27FC236}">
                <a16:creationId xmlns:a16="http://schemas.microsoft.com/office/drawing/2014/main" id="{C6017BEA-A364-47D2-9669-DD828C7B846F}"/>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D9EC3B4F-04A1-4E32-B830-3062050BD7B6}"/>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5C17D7A-5D5D-41E7-9BA1-468C1E2B6496}"/>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181207056"/>
      </p:ext>
    </p:extLst>
  </p:cSld>
</p:sld>
</file>

<file path=ppt/slides/slide9.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54D224-A678-4A8B-8681-4E3DB1C87804}"/>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Marketing shoot — decision required</a:t>
            </a:r>
          </a:p>
        </p:txBody>
      </p:sp>
      <p:sp>
        <p:nvSpPr>
          <p:cNvPr id="2" name="">
            <a:extLst xmlns:a="http://schemas.openxmlformats.org/drawingml/2006/main">
              <a:ext uri="{FF2B5EF4-FFF2-40B4-BE49-F238E27FC236}">
                <a16:creationId xmlns:a16="http://schemas.microsoft.com/office/drawing/2014/main" id="{AC860711-E968-4DE5-8265-7C25159747C0}"/>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CURRENT BLOCKER</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The planned venue is unavailable. Priya can hold Studio B on Friday or Studio C on Tuesday with the preferred crew until 4:30 PM today.</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TRADEOFF TO RESOLVE</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Choose the date that fits launch readiness and downstream production. Confirm availability before making new commitments to partners or the crew.</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NEXT ACTION</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Once the date is chosen, Priya can confirm the venue and rebuild the production schedule. Missing the hold risks a campaign slip.</a:t>
            </a:r>
          </a:p>
        </p:txBody>
      </p:sp>
      <p:sp>
        <p:nvSpPr>
          <p:cNvPr id="3" name="">
            <a:extLst xmlns:a="http://schemas.openxmlformats.org/drawingml/2006/main">
              <a:ext uri="{FF2B5EF4-FFF2-40B4-BE49-F238E27FC236}">
                <a16:creationId xmlns:a16="http://schemas.microsoft.com/office/drawing/2014/main" id="{869E54F8-7BFC-4BD2-BAB8-E7E660821B33}"/>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B77C2755-8F08-487E-801F-E1818648DE49}"/>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E7E9275D-6AEF-4849-B582-EFC689B6D271}"/>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381205384"/>
      </p:ext>
    </p:extLst>
  </p:cSld>
</p:sld>
</file>

<file path=ppt/slides/slide10.xml><?xml version="1.0" encoding="utf-8"?>
<p:sld xmlns:p="http://schemas.openxmlformats.org/presentationml/2006/main">
  <p:cSld>
    <p:bg>
      <p:bgPr>
        <a:solidFill xmlns:a="http://schemas.openxmlformats.org/drawingml/2006/main">
          <a:srgbClr val="16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50C124-F8E0-45D6-8F5F-F9E666C30801}"/>
              </a:ext>
            </a:extLst>
          </p:cNvPr>
          <p:cNvSpPr>
            <a:spLocks xmlns:a="http://schemas.openxmlformats.org/drawingml/2006/main" noGrp="1"/>
          </p:cNvSpPr>
          <p:nvPr/>
        </p:nvSpPr>
        <p:spPr>
          <a:xfrm xmlns:a="http://schemas.openxmlformats.org/drawingml/2006/main">
            <a:off x="609600" y="63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F5EF"/>
                </a:solidFill>
                <a:latin typeface="Arial"/>
                <a:ea typeface="Arial"/>
                <a:cs typeface="Arial"/>
              </a:defRPr>
            </a:pPr>
            <a:r>
              <a:rPr sz="3150" b="1">
                <a:solidFill>
                  <a:srgbClr val="F2F5EF"/>
                </a:solidFill>
                <a:latin typeface="Arial"/>
                <a:ea typeface="Arial"/>
                <a:cs typeface="Arial"/>
              </a:rPr>
              <a:t>Two decisions to leave with</a:t>
            </a:r>
          </a:p>
        </p:txBody>
      </p:sp>
      <p:sp>
        <p:nvSpPr>
          <p:cNvPr id="2" name="">
            <a:extLst xmlns:a="http://schemas.openxmlformats.org/drawingml/2006/main">
              <a:ext uri="{FF2B5EF4-FFF2-40B4-BE49-F238E27FC236}">
                <a16:creationId xmlns:a16="http://schemas.microsoft.com/office/drawing/2014/main" id="{B7394E26-B4CF-47C9-B8A7-0339F2087063}"/>
              </a:ext>
            </a:extLst>
          </p:cNvPr>
          <p:cNvSpPr>
            <a:spLocks xmlns:a="http://schemas.openxmlformats.org/drawingml/2006/main" noGrp="1"/>
          </p:cNvSpPr>
          <p:nvPr/>
        </p:nvSpPr>
        <p:spPr>
          <a:xfrm xmlns:a="http://schemas.openxmlformats.org/drawingml/2006/main">
            <a:off x="628650" y="1762125"/>
            <a:ext cx="1074420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1  APPROVE THE PROPOSED KEYNOTE STORYLINE</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Lead with useful agent work, explain the harness, and support the story with the scoped V2-versus-V1 comparison. Resolve the audience, emphasis, and talking points.</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2  ALIGN ON THE DEMOS FOR GTC</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Select the slate and confirm owners. Decide partner-pilot inclusion and the final retail assignment. Each chosen demo needs a presenter, a readiness check, and a fallback.</a:t>
            </a:r>
          </a:p>
          <a:p xmlns:a="http://schemas.openxmlformats.org/drawingml/2006/main">
            <a:r>
              <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CAPTURE BEFORE CLOSING</a:t>
            </a:r>
          </a:p>
          <a:p xmlns:a="http://schemas.openxmlformats.org/drawingml/2006/main">
            <a:pPr>
              <a:defRPr sz="1875" b="0">
                <a:solidFill>
                  <a:srgbClr val="F2F5EF"/>
                </a:solidFill>
                <a:latin typeface="Arial"/>
                <a:ea typeface="Arial"/>
                <a:cs typeface="Arial"/>
              </a:defRPr>
            </a:pPr>
            <a:r>
              <a:rPr sz="1875" b="0">
                <a:solidFill>
                  <a:srgbClr val="F2F5EF"/>
                </a:solidFill>
                <a:latin typeface="Arial"/>
                <a:ea typeface="Arial"/>
                <a:cs typeface="Arial"/>
              </a:rPr>
              <a:t>Record the decision, accountable owner, and next checkpoint in the campaign tracker and plan.</a:t>
            </a:r>
          </a:p>
        </p:txBody>
      </p:sp>
      <p:sp>
        <p:nvSpPr>
          <p:cNvPr id="3" name="">
            <a:extLst xmlns:a="http://schemas.openxmlformats.org/drawingml/2006/main">
              <a:ext uri="{FF2B5EF4-FFF2-40B4-BE49-F238E27FC236}">
                <a16:creationId xmlns:a16="http://schemas.microsoft.com/office/drawing/2014/main" id="{B4ACF49C-DEA6-4E34-9922-A07617F94FBF}"/>
              </a:ext>
            </a:extLst>
          </p:cNvPr>
          <p:cNvSpPr>
            <a:spLocks xmlns:a="http://schemas.openxmlformats.org/drawingml/2006/main" noGrp="1"/>
          </p:cNvSpPr>
          <p:nvPr/>
        </p:nvSpPr>
        <p:spPr>
          <a:xfrm xmlns:a="http://schemas.openxmlformats.org/drawingml/2006/main">
            <a:off x="628650" y="62198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9DD67C"/>
                </a:solidFill>
                <a:latin typeface="Arial"/>
                <a:ea typeface="Arial"/>
                <a:cs typeface="Arial"/>
              </a:defRPr>
            </a:pPr>
            <a:r>
              <a:rPr sz="1200" b="1">
                <a:solidFill>
                  <a:srgbClr val="9DD67C"/>
                </a:solidFill>
                <a:latin typeface="Arial"/>
                <a:ea typeface="Arial"/>
                <a:cs typeface="Arial"/>
              </a:rPr>
              <a:t>NEOAGENT V2 / EXECUTIVE REVIEW</a:t>
            </a:r>
          </a:p>
        </p:txBody>
      </p:sp>
      <p:sp>
        <p:nvSpPr>
          <p:cNvPr id="4" name="">
            <a:extLst xmlns:a="http://schemas.openxmlformats.org/drawingml/2006/main">
              <a:ext uri="{FF2B5EF4-FFF2-40B4-BE49-F238E27FC236}">
                <a16:creationId xmlns:a16="http://schemas.microsoft.com/office/drawing/2014/main" id="{680F26F7-5445-41EC-8A84-C5428E53080E}"/>
              </a:ext>
            </a:extLst>
          </p:cNvPr>
          <p:cNvSpPr>
            <a:spLocks xmlns:a="http://schemas.openxmlformats.org/drawingml/2006/main" noGrp="1"/>
          </p:cNvSpPr>
          <p:nvPr/>
        </p:nvSpPr>
        <p:spPr>
          <a:xfrm xmlns:a="http://schemas.openxmlformats.org/drawingml/2006/main">
            <a:off x="1104900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5BA"/>
                </a:solidFill>
                <a:latin typeface="Arial"/>
                <a:ea typeface="Arial"/>
                <a:cs typeface="Arial"/>
              </a:defRPr>
            </a:pPr>
            <a:r>
              <a:rPr sz="1350" b="0">
                <a:solidFill>
                  <a:srgbClr val="B9C5BA"/>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08D902C-0F56-41D3-9E78-4C3748CFCF33}"/>
              </a:ext>
            </a:extLst>
          </p:cNvPr>
          <p:cNvSpPr>
            <a:spLocks xmlns:a="http://schemas.openxmlformats.org/drawingml/2006/main" noGrp="1"/>
          </p:cNvSpPr>
          <p:nvPr/>
        </p:nvSpPr>
        <p:spPr>
          <a:xfrm xmlns:a="http://schemas.openxmlformats.org/drawingml/2006/main">
            <a:off x="628650" y="28575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9DD67C"/>
                </a:solidFill>
                <a:latin typeface="Arial"/>
                <a:ea typeface="Arial"/>
                <a:cs typeface="Arial"/>
              </a:defRPr>
            </a:pPr>
            <a:r>
              <a:rPr sz="1050" b="1">
                <a:solidFill>
                  <a:srgbClr val="9DD67C"/>
                </a:solidFill>
                <a:latin typeface="Arial"/>
                <a:ea typeface="Arial"/>
                <a:cs typeface="Arial"/>
              </a:rPr>
              <a:t>CAMPAIGN PLAN / DECISION-READY WORKING DECK</a:t>
            </a:r>
          </a:p>
        </p:txBody>
      </p:sp>
    </p:spTree>
    <p:extLst>
      <p:ext uri="{BB962C8B-B14F-4D97-AF65-F5344CB8AC3E}">
        <p14:creationId xmlns:p14="http://schemas.microsoft.com/office/powerpoint/2010/main" val="1408440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2026-10-01T05:52:42.4410000Z</dcterms:created>
  <dcterms:modified xsi:type="dcterms:W3CDTF">2026-10-01T05:52:42.4410000Z</dcterms:modified>
</coreProperties>
</file>