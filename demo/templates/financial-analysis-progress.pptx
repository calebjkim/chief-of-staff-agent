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318f7da44548b6" /><Relationship Type="http://schemas.openxmlformats.org/officeDocument/2006/relationships/extended-properties" Target="/docProps/app.xml" Id="R3078cfff551542a7" /><Relationship Type="http://schemas.openxmlformats.org/officeDocument/2006/relationships/officeDocument" Target="/ppt/presentation.xml" Id="Ra205d3f954c6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9ba2004ee4e16"/>
  </p:sldMasterIdLst>
  <p:notesMasterIdLst>
    <p:notesMasterId xmlns:r="http://schemas.openxmlformats.org/officeDocument/2006/relationships" r:id="Rf6377b68c2d24db9"/>
  </p:notesMasterIdLst>
  <p:sldIdLst>
    <p:sldId xmlns:r="http://schemas.openxmlformats.org/officeDocument/2006/relationships" id="256" r:id="R9c0839e0e90547d9"/>
    <p:sldId xmlns:r="http://schemas.openxmlformats.org/officeDocument/2006/relationships" id="257" r:id="R45fd3a3895404abe"/>
    <p:sldId xmlns:r="http://schemas.openxmlformats.org/officeDocument/2006/relationships" id="258" r:id="R24c8055b7a8441f8"/>
    <p:sldId xmlns:r="http://schemas.openxmlformats.org/officeDocument/2006/relationships" id="259" r:id="R3606603245eb4c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8ad1a034c843b9" /><Relationship Type="http://schemas.openxmlformats.org/officeDocument/2006/relationships/slideMaster" Target="/ppt/slideMasters/slideMaster1.xml" Id="Ra369ba2004ee4e16" /><Relationship Type="http://schemas.openxmlformats.org/officeDocument/2006/relationships/notesMaster" Target="/ppt/notesMasters/notesMaster1.xml" Id="Rf6377b68c2d24db9" /><Relationship Type="http://schemas.openxmlformats.org/officeDocument/2006/relationships/presProps" Target="/ppt/presProps.xml" Id="R708b28b9d9314b5e" /><Relationship Type="http://schemas.openxmlformats.org/officeDocument/2006/relationships/tableStyles" Target="/ppt/tableStyles.xml" Id="R82dcfe5f9443420e" /><Relationship Type="http://schemas.openxmlformats.org/officeDocument/2006/relationships/slide" Target="/ppt/slides/slide1.xml" Id="R9c0839e0e90547d9" /><Relationship Type="http://schemas.openxmlformats.org/officeDocument/2006/relationships/slide" Target="/ppt/slides/slide2.xml" Id="R45fd3a3895404abe" /><Relationship Type="http://schemas.openxmlformats.org/officeDocument/2006/relationships/slide" Target="/ppt/slides/slide3.xml" Id="R24c8055b7a8441f8" /><Relationship Type="http://schemas.openxmlformats.org/officeDocument/2006/relationships/slide" Target="/ppt/slides/slide4.xml" Id="R3606603245eb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87cf909fdb40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80fc865bd547a2" /><Relationship Type="http://schemas.openxmlformats.org/officeDocument/2006/relationships/notesMaster" Target="/ppt/notesMasters/notesMaster1.xml" Id="R3125761ac7264b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9bc2375c7470a" /><Relationship Type="http://schemas.openxmlformats.org/officeDocument/2006/relationships/notesMaster" Target="/ppt/notesMasters/notesMaster1.xml" Id="R6c890436e74d47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dd3852dd684f87" /><Relationship Type="http://schemas.openxmlformats.org/officeDocument/2006/relationships/notesMaster" Target="/ppt/notesMasters/notesMaster1.xml" Id="R0b612634564f47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344ab6148d4a78" /><Relationship Type="http://schemas.openxmlformats.org/officeDocument/2006/relationships/notesMaster" Target="/ppt/notesMasters/notesMaster1.xml" Id="R317b05901f7949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project scenario for the Chief of Staff demo. Findings describe the synthetic evaluation set, not results from real companies. Companion resources: Project Overview and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project scenario for the Chief of Staff demo. Findings describe the synthetic evaluation set, not results from real companies. Companion resources: Project Overview and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project scenario for the Chief of Staff demo. Findings describe the synthetic evaluation set, not results from real companies. Companion resources: Project Overview and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project scenario for the Chief of Staff demo. Findings describe the synthetic evaluation set, not results from real companies. Companion resources: Project Overview and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3993d7cd44a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8284d59bd34c69" /><Relationship Type="http://schemas.openxmlformats.org/officeDocument/2006/relationships/slideLayout" Target="/ppt/slideLayouts/slideLayout1.xml" Id="Rbda34c5b73ad4b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34c5b73ad4b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35894e72b44a0" /><Relationship Type="http://schemas.openxmlformats.org/officeDocument/2006/relationships/notesSlide" Target="/ppt/notesSlides/notesSlide1.xml" Id="R416d4edbf1f649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fa2ca259447b5" /><Relationship Type="http://schemas.openxmlformats.org/officeDocument/2006/relationships/notesSlide" Target="/ppt/notesSlides/notesSlide2.xml" Id="Ra9542e5385e44a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2ecee520a47a9" /><Relationship Type="http://schemas.openxmlformats.org/officeDocument/2006/relationships/notesSlide" Target="/ppt/notesSlides/notesSlide3.xml" Id="Rdab84e37cae3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c73f6e17a4216" /><Relationship Type="http://schemas.openxmlformats.org/officeDocument/2006/relationships/notesSlide" Target="/ppt/notesSlides/notesSlide4.xml" Id="R7555a60c028b47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5D7CF-2339-4C1C-B116-D556F2A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AI FOR FINANCIAL ANALYSIS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533E7-B93B-436F-96A9-57486556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A working prototype, with reliability work ahead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47599-89A5-4720-95BA-1C4CBABE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566A"/>
                </a:solidFill>
                <a:latin typeface="Arial"/>
                <a:ea typeface="Arial"/>
                <a:cs typeface="Arial"/>
              </a:rPr>
              <a:t>PROGRESS AND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81237-2DEF-4A4B-A09A-8818676E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Internal prototype  ·  Evaluation uses synthetic company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B6FBF-BD03-4BC8-B21B-42261D81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237E1-7410-41C0-91B5-C82347C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WORKING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53AA3-CD0E-4014-A3A8-5C04772D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095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Report summaries</a:t>
            </a:r>
          </a:p>
          <a:p xmlns:a="http://schemas.openxmlformats.org/drawingml/2006/main">
            <a:pPr>
              <a:defRPr sz="217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Quarter-to-quarter comparisons</a:t>
            </a:r>
          </a:p>
          <a:p xmlns:a="http://schemas.openxmlformats.org/drawingml/2006/main">
            <a:pPr>
              <a:defRPr sz="217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Answers linked to source passages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BBCD2-3CD1-46D6-B255-A92D2342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BEFORE FINANCE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A5186-2F5E-4977-B2AF-E47F632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528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Preserve table periods and units</a:t>
            </a:r>
          </a:p>
          <a:p xmlns:a="http://schemas.openxmlformats.org/drawingml/2006/main">
            <a:pPr>
              <a:defRPr sz="217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Verify every numerical citation</a:t>
            </a:r>
          </a:p>
          <a:p xmlns:a="http://schemas.openxmlformats.org/drawingml/2006/main">
            <a:pPr>
              <a:defRPr sz="217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Agree on the first review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01C28-C7B7-4632-96DF-28F4BE5D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Leah Moreno is taking over product coordination.</a:t>
            </a:r>
          </a:p>
        </p:txBody>
      </p:sp>
    </p:spTree>
    <p:extLst>
      <p:ext uri="{BB962C8B-B14F-4D97-AF65-F5344CB8AC3E}">
        <p14:creationId xmlns:p14="http://schemas.microsoft.com/office/powerpoint/2010/main" val="1492426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7DFF9-BECD-4940-A420-F190B4FE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AI FOR FINANCIAL ANALYSIS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F8E5D-3852-4B05-B868-357C4E03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Simple reports work. Complex tables need repair.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7E849-D688-4507-A41C-D06887BA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566A"/>
                </a:solidFill>
                <a:latin typeface="Arial"/>
                <a:ea typeface="Arial"/>
                <a:cs typeface="Arial"/>
              </a:rPr>
              <a:t>WHAT WE LEARNED FROM THE TEST REPORTS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5CF39-054D-4B84-B238-B517FDE7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Internal prototype  ·  Evaluation uses synthetic company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D4271-53C3-4B38-940D-A7E0C197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16226-18C0-4C9A-94D7-8F5D3C60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Clear narrative and single-column tables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AFAFC-0AE4-4EF8-912F-914625C4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The prototype finds the main figures and produces a useful first-pass summary.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DD523-40C6-4F9B-95CE-B822A827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Multi-column tables and inconsistent 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D0665-6074-4E01-801A-932B595E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Period headers can attach to the wrong column. Some extracted figures lose</a:t>
            </a:r>
          </a:p>
          <a:p xmlns:a="http://schemas.openxmlformats.org/drawingml/2006/main">
            <a:pPr>
              <a:defRPr sz="2025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their “thousands” or “millions” label, making comparisons unreliable.</a:t>
            </a:r>
          </a:p>
        </p:txBody>
      </p:sp>
    </p:spTree>
    <p:extLst>
      <p:ext uri="{BB962C8B-B14F-4D97-AF65-F5344CB8AC3E}">
        <p14:creationId xmlns:p14="http://schemas.microsoft.com/office/powerpoint/2010/main" val="1235549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B7D98-1561-42C2-8651-511AE2D4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AI FOR FINANCIAL ANALYSIS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9CEA1-801E-49B7-8D30-6BCF78A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A source link is useful only if the figure checks 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73332-6012-47A1-B771-FFB1CDF2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566A"/>
                </a:solidFill>
                <a:latin typeface="Arial"/>
                <a:ea typeface="Arial"/>
                <a:cs typeface="Arial"/>
              </a:rPr>
              <a:t>CITATION AND COMPARISON GAPS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9D3CE-04CB-4477-B6BB-89626D0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Internal prototype  ·  Evaluation uses synthetic company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1307A-F154-4FAE-B302-A7F35B1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40A00-F018-4DEC-848B-78186665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Observed failure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868FA-88A2-42F0-A9CF-7FF174D2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143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A citation can reach the correct page</a:t>
            </a:r>
          </a:p>
          <a:p xmlns:a="http://schemas.openxmlformats.org/drawingml/2006/main">
            <a:pPr>
              <a:defRPr sz="2100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but point to the wrong row or period.</a:t>
            </a:r>
          </a:p>
          <a:p xmlns:a="http://schemas.openxmlformats.org/drawingml/2006/main">
            <a:pPr>
              <a:defRPr sz="2100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A fluent summary can hide that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74F76-A671-4182-BFE5-D5F958CD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03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Required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0C0F0-00FB-4E70-905C-0AB636FC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504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Match each figure, unit and period</a:t>
            </a:r>
          </a:p>
          <a:p xmlns:a="http://schemas.openxmlformats.org/drawingml/2006/main">
            <a:pPr>
              <a:defRPr sz="202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to the cited source cell.</a:t>
            </a:r>
          </a:p>
          <a:p xmlns:a="http://schemas.openxmlformats.org/drawingml/2006/main">
            <a:pPr>
              <a:defRPr sz="2025" b="0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83E"/>
                </a:solidFill>
                <a:latin typeface="Arial"/>
                <a:ea typeface="Arial"/>
                <a:cs typeface="Arial"/>
              </a:rPr>
              <a:t>Flag missing or conflicting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B2A2A-5C2B-4B11-AF75-A0869CEF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Analysts review and approve the output before sharing it.</a:t>
            </a:r>
          </a:p>
        </p:txBody>
      </p:sp>
    </p:spTree>
    <p:extLst>
      <p:ext uri="{BB962C8B-B14F-4D97-AF65-F5344CB8AC3E}">
        <p14:creationId xmlns:p14="http://schemas.microsoft.com/office/powerpoint/2010/main" val="1250556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B6E22-E1DE-4151-BA9D-C1B87484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AI FOR FINANCIAL ANALYSIS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36C85-1DA0-4E6E-840A-9456BB5E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Leah’s first priority: define a review-ready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C3138-82A9-43E6-87DB-FBE30457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566A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F5609-B36A-41F1-9A87-E62E818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Internal prototype  ·  Evaluation uses synthetic company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E433A-0DC6-4578-A0AA-D8A2D8FC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23FAB-5766-47DA-9112-D242EBC1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735F8-A57A-4CF6-91B1-79CA6CD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Reproduce the failures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5F15B-5AEA-4D5E-8A2F-403CABD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Review the failing tables and citations with Engineering.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8174E-86B4-4C8B-AECA-E7F714EC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3AF18-7C5C-40A2-B5A4-5BAE9C4E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Agree on the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C5472-2342-480C-8EF5-FD4C5DF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Keep regression cases and define what must pass.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397A6-C055-4381-84D6-0524534D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4DD7D-420E-412E-B6E5-DBE583F4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8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83E"/>
                </a:solidFill>
                <a:latin typeface="Arial"/>
                <a:ea typeface="Arial"/>
                <a:cs typeface="Arial"/>
              </a:rPr>
              <a:t>Plan the finance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9F172-84ED-482B-BAFE-11A036E2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5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566A"/>
                </a:solidFill>
                <a:latin typeface="Arial"/>
                <a:ea typeface="Arial"/>
                <a:cs typeface="Arial"/>
              </a:rPr>
              <a:t>Choose reviewers and questions before setting a date.</a:t>
            </a:r>
          </a:p>
        </p:txBody>
      </p:sp>
    </p:spTree>
    <p:extLst>
      <p:ext uri="{BB962C8B-B14F-4D97-AF65-F5344CB8AC3E}">
        <p14:creationId xmlns:p14="http://schemas.microsoft.com/office/powerpoint/2010/main" val="898017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2026-10-01T01:58:13.7480000Z</dcterms:created>
  <dcterms:modified xsi:type="dcterms:W3CDTF">2026-10-01T01:58:13.7480000Z</dcterms:modified>
</coreProperties>
</file>